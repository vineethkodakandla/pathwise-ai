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</a:rPr>
              <a:t>PathWise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i="1">
                <a:solidFill>
                  <a:srgbClr val="00A8B5"/>
                </a:solidFill>
              </a:rPr>
              <a:t>An Intelligent, Vendor-Agnostic SD-WAN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8C42"/>
                </a:solidFill>
              </a:rPr>
              <a:t>Team Pathfinders</a:t>
            </a:r>
          </a:p>
          <a:p>
            <a:r>
              <a:rPr sz="1600" b="0">
                <a:solidFill>
                  <a:srgbClr val="FFFFFF"/>
                </a:solidFill>
              </a:rPr>
              <a:t>COSC 6370-001  |  Advanced Software Engineering</a:t>
            </a:r>
          </a:p>
          <a:p>
            <a:pPr>
              <a:spcAft>
                <a:spcPts val="200"/>
              </a:spcAft>
            </a:pPr>
          </a:p>
          <a:p>
            <a:r>
              <a:rPr sz="1400" b="0">
                <a:solidFill>
                  <a:srgbClr val="FFFFFF"/>
                </a:solidFill>
              </a:rPr>
              <a:t>Vineeth Reddy Kodakandla  ·  Meghana Nalluri</a:t>
            </a:r>
          </a:p>
          <a:p>
            <a:r>
              <a:rPr sz="1400" b="0">
                <a:solidFill>
                  <a:srgbClr val="FFFFFF"/>
                </a:solidFill>
              </a:rPr>
              <a:t>Bharadwaj Jakkula  ·  Sricharitha Katta</a:t>
            </a:r>
          </a:p>
          <a:p>
            <a:pPr>
              <a:spcAft>
                <a:spcPts val="200"/>
              </a:spcAft>
            </a:pPr>
          </a:p>
          <a:p>
            <a:r>
              <a:rPr sz="1400" b="0">
                <a:solidFill>
                  <a:srgbClr val="00A8B5"/>
                </a:solidFill>
              </a:rPr>
              <a:t>April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0B1F3A"/>
                </a:solidFill>
              </a:rPr>
              <a:t>The Problem</a:t>
            </a:r>
          </a:p>
          <a:p>
            <a:r>
              <a:rPr sz="1500" i="1">
                <a:solidFill>
                  <a:srgbClr val="00A8B5"/>
                </a:solidFill>
              </a:rPr>
              <a:t>The "Switching Gap" in Enterprise Networks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</a:rPr>
              <a:t>Modern SD-WAN solutions are REACTIVE — they failover only AFTER a link has already failed.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106424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5A6B7A"/>
                </a:solidFill>
              </a:rPr>
              <a:t>During that window — between degradation and failover — packets drop. VoIP calls cut out. Video freezes. Financial transactions fail.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08960"/>
            <a:ext cx="5394960" cy="12801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D1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D13B3B"/>
                </a:solidFill>
              </a:rPr>
              <a:t>No Predictive Intelligence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Reactive systems only detect failures after they occur.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108960"/>
            <a:ext cx="5394960" cy="12801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D1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D13B3B"/>
                </a:solidFill>
              </a:rPr>
              <a:t>Vendor Lock-In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Proprietary appliances from Cisco/Juniper at premium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5394960" cy="12801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D1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D13B3B"/>
                </a:solidFill>
              </a:rPr>
              <a:t>CLI-Only Configuration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Requires specialized network engineers.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4572000"/>
            <a:ext cx="5394960" cy="12801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D1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D13B3B"/>
                </a:solidFill>
              </a:rPr>
              <a:t>Packet Loss on Failover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Drops during hand-off disrupt mission-critical flows.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5A6B7A"/>
                </a:solidFill>
              </a:rPr>
              <a:t>PathWise AI  |  Team Pathfinders  |  COSC 6370-001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5A6B7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0B1F3A"/>
                </a:solidFill>
              </a:rPr>
              <a:t>Our Solution</a:t>
            </a:r>
          </a:p>
          <a:p>
            <a:r>
              <a:rPr sz="1500" i="1">
                <a:solidFill>
                  <a:srgbClr val="00A8B5"/>
                </a:solidFill>
              </a:rPr>
              <a:t>Reactive  →  Predictive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61188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30–60 sec Forecast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LSTM neural networks predict WAN degradation before it impacts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600200"/>
            <a:ext cx="361188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Autonomous Steering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Routes traffic via SDN controllers (OpenDaylight + ONOS).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600200"/>
            <a:ext cx="361188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Hitless Handoff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Zero packet loss, zero session drops during failover.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86200"/>
            <a:ext cx="361188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Vendor-Agnostic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Runs on commodity x86-64 with any OpenFlow 1.3+ device.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3886200"/>
            <a:ext cx="361188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Digital Twin Safety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Every change validated in a sandbox before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3886200"/>
            <a:ext cx="361188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Natural Language Policy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No CLI. Type intent, system generates YANG/NETCONF.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5A6B7A"/>
                </a:solidFill>
              </a:rPr>
              <a:t>PathWise AI  |  Team Pathfinders  |  COSC 6370-001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5A6B7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0B1F3A"/>
                </a:solidFill>
              </a:rPr>
              <a:t>Target Users</a:t>
            </a:r>
          </a:p>
          <a:p>
            <a:r>
              <a:rPr sz="1500" i="1">
                <a:solidFill>
                  <a:srgbClr val="00A8B5"/>
                </a:solidFill>
              </a:rPr>
              <a:t>Who benefits from PathWise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685800">
                <a:tc>
                  <a:txBody>
                    <a:bodyPr lIns="73152" rIns="73152" tIns="36576" bIns="36576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User Segment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Why They Need PathWise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</a:rPr>
                        <a:t>SMEs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</a:rPr>
                        <a:t>Enterprise-grade reliability without enterprise budgets.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</a:rPr>
                        <a:t>Managed Service Providers (MSPs)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</a:rPr>
                        <a:t>Centrally manage 100+ client sites from one dashboard.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</a:rPr>
                        <a:t>Healthcare Facilities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</a:rPr>
                        <a:t>HIPAA-compliant, zero-downtime telemedicine + EHR.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</a:rPr>
                        <a:t>Educational Institutions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</a:rPr>
                        <a:t>Reliable remote learning and campus-wide VoIP.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</a:rPr>
                        <a:t>Retail Chains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</a:rPr>
                        <a:t>Continuous POS / payment uptime across all branches.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5A6B7A"/>
                </a:solidFill>
              </a:rPr>
              <a:t>PathWise AI  |  Team Pathfinders  |  COSC 6370-001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5A6B7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0B1F3A"/>
                </a:solidFill>
              </a:rPr>
              <a:t>System Architecture</a:t>
            </a:r>
          </a:p>
          <a:p>
            <a:r>
              <a:rPr sz="1500" i="1">
                <a:solidFill>
                  <a:srgbClr val="00A8B5"/>
                </a:solidFill>
              </a:rPr>
              <a:t>7-Service Microservices Platform (Dockerized)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4114800" cy="6400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Dashboard (React + D3.js)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554480"/>
            <a:ext cx="4114800" cy="6400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IBN Interface (Natural Language)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468880"/>
            <a:ext cx="7589520" cy="640080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Backend API  —  FastAPI + JWT + RBAC + WebSocket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2743200" cy="82296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Telemetry Engine
(LSTM + Attention)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474720"/>
            <a:ext cx="2743200" cy="82296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Traffic Steering
(ODL + ONOS)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474720"/>
            <a:ext cx="2743200" cy="82296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Digital Twin
(Mininet + Batfish)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3474720"/>
            <a:ext cx="2560320" cy="82296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Redis Broker
(Pub/Sub)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663440"/>
            <a:ext cx="9418320" cy="7315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TimescaleDB  —  Telemetry  |  Health Scores  |  Audit Log  |  Users  |  Policies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71800" y="2194560"/>
            <a:ext cx="1143000" cy="274320"/>
          </a:xfrm>
          <a:prstGeom prst="line">
            <a:avLst/>
          </a:prstGeom>
          <a:ln w="19050">
            <a:solidFill>
              <a:srgbClr val="5A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772400" y="2194560"/>
            <a:ext cx="1371600" cy="274320"/>
          </a:xfrm>
          <a:prstGeom prst="line">
            <a:avLst/>
          </a:prstGeom>
          <a:ln w="19050">
            <a:solidFill>
              <a:srgbClr val="5A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828800" y="3108960"/>
            <a:ext cx="4251960" cy="365760"/>
          </a:xfrm>
          <a:prstGeom prst="line">
            <a:avLst/>
          </a:prstGeom>
          <a:ln w="19050">
            <a:solidFill>
              <a:srgbClr val="5A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754880" y="3108960"/>
            <a:ext cx="1325880" cy="365760"/>
          </a:xfrm>
          <a:prstGeom prst="line">
            <a:avLst/>
          </a:prstGeom>
          <a:ln w="19050">
            <a:solidFill>
              <a:srgbClr val="5A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3108960"/>
            <a:ext cx="1600200" cy="365760"/>
          </a:xfrm>
          <a:prstGeom prst="line">
            <a:avLst/>
          </a:prstGeom>
          <a:ln w="19050">
            <a:solidFill>
              <a:srgbClr val="5A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3108960"/>
            <a:ext cx="4434840" cy="365760"/>
          </a:xfrm>
          <a:prstGeom prst="line">
            <a:avLst/>
          </a:prstGeom>
          <a:ln w="19050">
            <a:solidFill>
              <a:srgbClr val="5A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0" y="4297680"/>
            <a:ext cx="4251960" cy="365760"/>
          </a:xfrm>
          <a:prstGeom prst="line">
            <a:avLst/>
          </a:prstGeom>
          <a:ln w="19050">
            <a:solidFill>
              <a:srgbClr val="5A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54880" y="4297680"/>
            <a:ext cx="1325880" cy="365760"/>
          </a:xfrm>
          <a:prstGeom prst="line">
            <a:avLst/>
          </a:prstGeom>
          <a:ln w="19050">
            <a:solidFill>
              <a:srgbClr val="5A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5A6B7A"/>
                </a:solidFill>
              </a:rPr>
              <a:t>Inter-service events flow over Redis pub/sub (telemetry, alerts, validation, steering, dashboard updates).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5A6B7A"/>
                </a:solidFill>
              </a:rPr>
              <a:t>PathWise AI  |  Team Pathfinders  |  COSC 6370-001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5A6B7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0B1F3A"/>
                </a:solidFill>
              </a:rPr>
              <a:t>Technology Stack</a:t>
            </a:r>
          </a:p>
          <a:p>
            <a:r>
              <a:rPr sz="1500" i="1">
                <a:solidFill>
                  <a:srgbClr val="00A8B5"/>
                </a:solidFill>
              </a:rPr>
              <a:t>Best-in-class open-source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40574">
                <a:tc>
                  <a:txBody>
                    <a:bodyPr lIns="73152" rIns="73152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40574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ML / Prediction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Python 3.11 + PyTorch 2.x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LSTM with Bahdanau attention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40574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Time-Series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TimescaleDB (PostgreSQL)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Telemetry + health score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Message Broker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Redis 7.x Pub/Sub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Real-time inter-service events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40574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FastAPI + Uvicorn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Async REST + WebSocket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SDN Control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OpenDaylight + ONOS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Northbound flow-table management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40574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Emulation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Mininet (via WSL2)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Digital twin + training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Batfish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Loop + firewall policy checks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40574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React 18 + TypeScript + D3.js v7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SPA dashboard + visualizations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JWT, bcrypt, TLS 1.3, AES-256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Auth + encryption in transit/at rest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4058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Docker + Docker Compose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Containerized microservices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5A6B7A"/>
                </a:solidFill>
              </a:rPr>
              <a:t>PathWise AI  |  Team Pathfinders  |  COSC 6370-001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5A6B7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0B1F3A"/>
                </a:solidFill>
              </a:rPr>
              <a:t>The LSTM Prediction Engine</a:t>
            </a:r>
          </a:p>
          <a:p>
            <a:r>
              <a:rPr sz="1500" i="1">
                <a:solidFill>
                  <a:srgbClr val="00A8B5"/>
                </a:solidFill>
              </a:rPr>
              <a:t>PathWiseLSTM  —  The brain of the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0A8B5"/>
                </a:solidFill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0A8B5"/>
                </a:solidFill>
              </a:rPr>
              <a:t>▸  </a:t>
            </a:r>
            <a:r>
              <a:rPr sz="1300" b="0">
                <a:solidFill>
                  <a:srgbClr val="0B1F3A"/>
                </a:solidFill>
              </a:rPr>
              <a:t>Input:  60 timesteps @ 1 Hz (latency, jitter, packet loss)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A8B5"/>
                </a:solidFill>
              </a:rPr>
              <a:t>▸  </a:t>
            </a:r>
            <a:r>
              <a:rPr sz="1300" b="0">
                <a:solidFill>
                  <a:srgbClr val="0B1F3A"/>
                </a:solidFill>
              </a:rPr>
              <a:t>2 stacked LSTM layers, hidden size = 128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A8B5"/>
                </a:solidFill>
              </a:rPr>
              <a:t>▸  </a:t>
            </a:r>
            <a:r>
              <a:rPr sz="1300" b="0">
                <a:solidFill>
                  <a:srgbClr val="0B1F3A"/>
                </a:solidFill>
              </a:rPr>
              <a:t>Dropout = 0.2 between layers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A8B5"/>
                </a:solidFill>
              </a:rPr>
              <a:t>▸  </a:t>
            </a:r>
            <a:r>
              <a:rPr sz="1300" b="0">
                <a:solidFill>
                  <a:srgbClr val="0B1F3A"/>
                </a:solidFill>
              </a:rPr>
              <a:t>Bahdanau attention over sequence output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A8B5"/>
                </a:solidFill>
              </a:rPr>
              <a:t>▸  </a:t>
            </a:r>
            <a:r>
              <a:rPr sz="1300" b="0">
                <a:solidFill>
                  <a:srgbClr val="0B1F3A"/>
                </a:solidFill>
              </a:rPr>
              <a:t>Output:  predictions at t+30s AND t+60s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A8B5"/>
                </a:solidFill>
              </a:rPr>
              <a:t>▸  </a:t>
            </a:r>
            <a:r>
              <a:rPr sz="1300" b="0">
                <a:solidFill>
                  <a:srgbClr val="0B1F3A"/>
                </a:solidFill>
              </a:rPr>
              <a:t>Health score:  weighted combination → 0–100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8C42"/>
                </a:solidFill>
              </a:rPr>
              <a:t>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5486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0A8B5"/>
                </a:solidFill>
              </a:rPr>
              <a:t>▸  </a:t>
            </a:r>
            <a:r>
              <a:rPr sz="1300" b="0">
                <a:solidFill>
                  <a:srgbClr val="0B1F3A"/>
                </a:solidFill>
              </a:rPr>
              <a:t>Optimizer:  Adam,  lr = 1e-3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A8B5"/>
                </a:solidFill>
              </a:rPr>
              <a:t>▸  </a:t>
            </a:r>
            <a:r>
              <a:rPr sz="1300" b="0">
                <a:solidFill>
                  <a:srgbClr val="0B1F3A"/>
                </a:solidFill>
              </a:rPr>
              <a:t>Loss:  MSE over 6 prediction targets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A8B5"/>
                </a:solidFill>
              </a:rPr>
              <a:t>▸  </a:t>
            </a:r>
            <a:r>
              <a:rPr sz="1300" b="0">
                <a:solidFill>
                  <a:srgbClr val="0B1F3A"/>
                </a:solidFill>
              </a:rPr>
              <a:t>Batch size:  256,  Epochs:  50 (early stop p=5)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A8B5"/>
                </a:solidFill>
              </a:rPr>
              <a:t>▸  </a:t>
            </a:r>
            <a:r>
              <a:rPr sz="1300" b="0">
                <a:solidFill>
                  <a:srgbClr val="0B1F3A"/>
                </a:solidFill>
              </a:rPr>
              <a:t>Dataset:  ≥ 10M synthetic Mininet points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A8B5"/>
                </a:solidFill>
              </a:rPr>
              <a:t>▸  </a:t>
            </a:r>
            <a:r>
              <a:rPr sz="1300" b="0">
                <a:solidFill>
                  <a:srgbClr val="0B1F3A"/>
                </a:solidFill>
              </a:rPr>
              <a:t>Train / Val / Test split:  70 / 15 / 15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A8B5"/>
                </a:solidFill>
              </a:rPr>
              <a:t>▸  </a:t>
            </a:r>
            <a:r>
              <a:rPr sz="1300" b="0">
                <a:solidFill>
                  <a:srgbClr val="0B1F3A"/>
                </a:solidFill>
              </a:rPr>
              <a:t>Target accuracy:  ≥ 90%  (Req-Qual-Perf-1)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11064240" cy="100584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Inference latency &lt; 1 second per pass  —  fits inside the 1 Hz telemetry polling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5A6B7A"/>
                </a:solidFill>
              </a:rPr>
              <a:t>PathWise AI  |  Team Pathfinders  |  COSC 6370-001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5A6B7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0B1F3A"/>
                </a:solidFill>
              </a:rPr>
              <a:t>Hitless Handoff Sequence</a:t>
            </a:r>
          </a:p>
          <a:p>
            <a:r>
              <a:rPr sz="1500" i="1">
                <a:solidFill>
                  <a:srgbClr val="00A8B5"/>
                </a:solidFill>
              </a:rPr>
              <a:t>Trigger → SDN flow update in &lt; 50 milliseconds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600200"/>
            <a:ext cx="594360" cy="59436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73352"/>
            <a:ext cx="48463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B1F3A"/>
                </a:solidFill>
              </a:rPr>
              <a:t>LSTM predicts degradation; health score drops below threshold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1600200"/>
            <a:ext cx="594360" cy="59436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59" y="1673352"/>
            <a:ext cx="48463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B1F3A"/>
                </a:solidFill>
              </a:rPr>
              <a:t>Routing proposal sent to Digital Twin Sandbox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68880"/>
            <a:ext cx="594360" cy="59436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42032"/>
            <a:ext cx="48463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B1F3A"/>
                </a:solidFill>
              </a:rPr>
              <a:t>Sandbox validates: Mininet topology + Batfish loop/ACL check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2468880"/>
            <a:ext cx="594360" cy="59436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2542032"/>
            <a:ext cx="48463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B1F3A"/>
                </a:solidFill>
              </a:rPr>
              <a:t>PASSED → Traffic Steering engine activates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37560"/>
            <a:ext cx="594360" cy="59436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48463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B1F3A"/>
                </a:solidFill>
              </a:rPr>
              <a:t>Pre-compute flow entries for alternative link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3337560"/>
            <a:ext cx="594360" cy="59436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3410712"/>
            <a:ext cx="48463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B1F3A"/>
                </a:solidFill>
              </a:rPr>
              <a:t>Atomic flow-table update via ODL/ONOS northbound API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206240"/>
            <a:ext cx="594360" cy="59436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279392"/>
            <a:ext cx="48463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B1F3A"/>
                </a:solidFill>
              </a:rPr>
              <a:t>Preserve TCP/VoIP session states throughout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4206240"/>
            <a:ext cx="594360" cy="59436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59" y="4279392"/>
            <a:ext cx="48463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B1F3A"/>
                </a:solidFill>
              </a:rPr>
              <a:t>Read-back confirmation + tamper-evident audit log entry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69280"/>
            <a:ext cx="11064240" cy="64008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SLA:  &lt; 50 ms end-to-end  (Req-Qual-Perf-2)  ·  Zero packet loss confirmed in integration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5A6B7A"/>
                </a:solidFill>
              </a:rPr>
              <a:t>PathWise AI  |  Team Pathfinders  |  COSC 6370-001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5A6B7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0B1F3A"/>
                </a:solidFill>
              </a:rPr>
              <a:t>Digital Twin Sandbox</a:t>
            </a:r>
          </a:p>
          <a:p>
            <a:r>
              <a:rPr sz="1500" i="1">
                <a:solidFill>
                  <a:srgbClr val="00A8B5"/>
                </a:solidFill>
              </a:rPr>
              <a:t>Validate every AI decision before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</a:rPr>
              <a:t>Every routing change is auto-submitted. No exceptions. No direct-to-production deployments.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2011680" cy="1097280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Mininet
Topology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2560320"/>
            <a:ext cx="274320" cy="365760"/>
          </a:xfrm>
          <a:prstGeom prst="rightArrow">
            <a:avLst/>
          </a:prstGeom>
          <a:solidFill>
            <a:srgbClr val="5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2194560"/>
            <a:ext cx="2011680" cy="1097280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Apply
Proposed Change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46320" y="2560320"/>
            <a:ext cx="274320" cy="365760"/>
          </a:xfrm>
          <a:prstGeom prst="rightArrow">
            <a:avLst/>
          </a:prstGeom>
          <a:solidFill>
            <a:srgbClr val="5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0640" y="2194560"/>
            <a:ext cx="2011680" cy="1097280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Loop
Detection (DFS)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32320" y="2560320"/>
            <a:ext cx="274320" cy="365760"/>
          </a:xfrm>
          <a:prstGeom prst="rightArrow">
            <a:avLst/>
          </a:prstGeom>
          <a:solidFill>
            <a:srgbClr val="5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2194560"/>
            <a:ext cx="2011680" cy="1097280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Batfish
ACL + Firewall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18320" y="2560320"/>
            <a:ext cx="274320" cy="365760"/>
          </a:xfrm>
          <a:prstGeom prst="rightArrow">
            <a:avLst/>
          </a:prstGeom>
          <a:solidFill>
            <a:srgbClr val="5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0" y="2194560"/>
            <a:ext cx="2011680" cy="109728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PASSED?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40480"/>
            <a:ext cx="5029200" cy="1645920"/>
          </a:xfrm>
          <a:prstGeom prst="roundRect">
            <a:avLst/>
          </a:prstGeom>
          <a:solidFill>
            <a:srgbClr val="2E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  PASSED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Forward change payload to Traffic Steering engine for immediate deployment.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840480"/>
            <a:ext cx="5029200" cy="1645920"/>
          </a:xfrm>
          <a:prstGeom prst="roundRect">
            <a:avLst/>
          </a:prstGeom>
          <a:solidFill>
            <a:srgbClr val="D1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✗  FAILED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Reject change. Log specific violation. Alert admin. Never touches production.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760720"/>
            <a:ext cx="11064240" cy="54864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SLA:  Full validation cycle &lt; 5 seconds  (Req-Qual-Perf-3)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5A6B7A"/>
                </a:solidFill>
              </a:rPr>
              <a:t>PathWise AI  |  Team Pathfinders  |  COSC 6370-001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5A6B7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0B1F3A"/>
                </a:solidFill>
              </a:rPr>
              <a:t>Intent-Based Networking (IBN)</a:t>
            </a:r>
          </a:p>
          <a:p>
            <a:r>
              <a:rPr sz="1500" i="1">
                <a:solidFill>
                  <a:srgbClr val="00A8B5"/>
                </a:solidFill>
              </a:rPr>
              <a:t>Type your intent — no CLI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91440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 wrap="square"/>
          <a:lstStyle/>
          <a:p>
            <a:pPr algn="ctr"/>
            <a:r>
              <a:rPr sz="1200" b="1">
                <a:solidFill>
                  <a:srgbClr val="5A6B7A"/>
                </a:solidFill>
              </a:rPr>
              <a:t>USER INPUT:  </a:t>
            </a:r>
            <a:r>
              <a:rPr sz="1600" i="1">
                <a:solidFill>
                  <a:srgbClr val="0B1F3A"/>
                </a:solidFill>
              </a:rPr>
              <a:t>"Prioritize VoIP traffic over video streaming on the Fiber link."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2697480" cy="1737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FF8C42"/>
                </a:solidFill>
              </a:rPr>
              <a:t>NLP Parser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Regex + embedding similarity.
No external LLM dependency.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2743200"/>
            <a:ext cx="2697480" cy="1737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FF8C42"/>
                </a:solidFill>
              </a:rPr>
              <a:t>Intent Preview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User reviews interpreted policy
before Apply. Never deploys blindly.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743200"/>
            <a:ext cx="2697480" cy="1737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FF8C42"/>
                </a:solidFill>
              </a:rPr>
              <a:t>YANG Translator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ietf-diffserv-classifier
ietf-qos-policy modules.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07424" y="2743200"/>
            <a:ext cx="2697480" cy="1737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FF8C42"/>
                </a:solidFill>
              </a:rPr>
              <a:t>SDN Controller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NETCONF payload submitted
to ODL/ONOS for deployment.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0A8B5"/>
                </a:solidFill>
              </a:rPr>
              <a:t>Supported intent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0A8B5"/>
                </a:solidFill>
              </a:rPr>
              <a:t>▸  </a:t>
            </a:r>
            <a:r>
              <a:rPr sz="1200" b="0">
                <a:solidFill>
                  <a:srgbClr val="0B1F3A"/>
                </a:solidFill>
              </a:rPr>
              <a:t>prioritize &lt;traffic&gt; over &lt;traffic&gt;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A8B5"/>
                </a:solidFill>
              </a:rPr>
              <a:t>▸  </a:t>
            </a:r>
            <a:r>
              <a:rPr sz="1200" b="0">
                <a:solidFill>
                  <a:srgbClr val="0B1F3A"/>
                </a:solidFill>
              </a:rPr>
              <a:t>block &lt;traffic&gt; from &lt;scope&gt;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A8B5"/>
                </a:solidFill>
              </a:rPr>
              <a:t>▸  </a:t>
            </a:r>
            <a:r>
              <a:rPr sz="1200" b="0">
                <a:solidFill>
                  <a:srgbClr val="0B1F3A"/>
                </a:solidFill>
              </a:rPr>
              <a:t>limit &lt;traffic&gt; to &lt;bandwidth&gt;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A8B5"/>
                </a:solidFill>
              </a:rPr>
              <a:t>▸  </a:t>
            </a:r>
            <a:r>
              <a:rPr sz="1200" b="0">
                <a:solidFill>
                  <a:srgbClr val="0B1F3A"/>
                </a:solidFill>
              </a:rPr>
              <a:t>route &lt;traffic&gt; via &lt;link_type&gt;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5A6B7A"/>
                </a:solidFill>
              </a:rPr>
              <a:t>PathWise AI  |  Team Pathfinders  |  COSC 6370-001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5A6B7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0B1F3A"/>
                </a:solidFill>
              </a:rPr>
              <a:t>Dashboard UI</a:t>
            </a:r>
          </a:p>
          <a:p>
            <a:r>
              <a:rPr sz="1500" i="1">
                <a:solidFill>
                  <a:srgbClr val="00A8B5"/>
                </a:solidFill>
              </a:rPr>
              <a:t>Six key screens  —  React 18 + TypeScript + D3.js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61188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Login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TLS 1.3 only · Generic error messages · 5-strike account lockout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600200"/>
            <a:ext cx="361188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Telemetry Monitor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Real-time D3 line graphs · Per-link filters · Time range selector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600200"/>
            <a:ext cx="361188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Health Scoreboard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Color-coded cards per link (Fiber/Sat/5G/Broadband) · Confidence + reasoning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86200"/>
            <a:ext cx="361188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Policy Manager (IBN)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Natural language input · Interpreted policy preview · Active policy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3886200"/>
            <a:ext cx="361188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Audit Log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Paginated · Filterable by event/date/actor · Tamper-evident checksums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3886200"/>
            <a:ext cx="361188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Reports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PDF + CSV export of historical health scores, accuracy, steering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72200"/>
            <a:ext cx="11064240" cy="274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UI response &lt; 2 seconds under normal load  (Req-Qual-Perf-4)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5A6B7A"/>
                </a:solidFill>
              </a:rPr>
              <a:t>PathWise AI  |  Team Pathfinders  |  COSC 6370-001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5A6B7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0B1F3A"/>
                </a:solidFill>
              </a:rPr>
              <a:t>Security &amp; Compliance</a:t>
            </a:r>
          </a:p>
          <a:p>
            <a:r>
              <a:rPr sz="1500" i="1">
                <a:solidFill>
                  <a:srgbClr val="00A8B5"/>
                </a:solidFill>
              </a:rPr>
              <a:t>Defense in depth at every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28320">
                <a:tc>
                  <a:txBody>
                    <a:bodyPr lIns="73152" rIns="73152"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Implementation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28320">
                <a:tc>
                  <a:txBody>
                    <a:bodyPr lIns="73152" rIns="73152" tIns="36576" bIns="36576" wrap="square"/>
                    <a:lstStyle/>
                    <a:p>
                      <a:r>
                        <a:rPr sz="1300">
                          <a:solidFill>
                            <a:srgbClr val="0B1F3A"/>
                          </a:solidFill>
                        </a:rPr>
                        <a:t>Data in Transit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300">
                          <a:solidFill>
                            <a:srgbClr val="0B1F3A"/>
                          </a:solidFill>
                        </a:rPr>
                        <a:t>TLS 1.3 enforced at nginx (lower versions rejected)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28320">
                <a:tc>
                  <a:txBody>
                    <a:bodyPr lIns="73152" rIns="73152" tIns="36576" bIns="36576" wrap="square"/>
                    <a:lstStyle/>
                    <a:p>
                      <a:r>
                        <a:rPr sz="1300">
                          <a:solidFill>
                            <a:srgbClr val="0B1F3A"/>
                          </a:solidFill>
                        </a:rPr>
                        <a:t>Data at 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300">
                          <a:solidFill>
                            <a:srgbClr val="0B1F3A"/>
                          </a:solidFill>
                        </a:rPr>
                        <a:t>AES-256 encryption for telemetry + credentials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lIns="73152" rIns="73152" tIns="36576" bIns="36576" wrap="square"/>
                    <a:lstStyle/>
                    <a:p>
                      <a:r>
                        <a:rPr sz="1300">
                          <a:solidFill>
                            <a:srgbClr val="0B1F3A"/>
                          </a:solidFill>
                        </a:rPr>
                        <a:t>Passwords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300">
                          <a:solidFill>
                            <a:srgbClr val="0B1F3A"/>
                          </a:solidFill>
                        </a:rPr>
                        <a:t>bcrypt one-way hash — never stored in plaintext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28320">
                <a:tc>
                  <a:txBody>
                    <a:bodyPr lIns="73152" rIns="73152" tIns="36576" bIns="36576" wrap="square"/>
                    <a:lstStyle/>
                    <a:p>
                      <a:r>
                        <a:rPr sz="1300">
                          <a:solidFill>
                            <a:srgbClr val="0B1F3A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300">
                          <a:solidFill>
                            <a:srgbClr val="0B1F3A"/>
                          </a:solidFill>
                        </a:rPr>
                        <a:t>JWT tokens, 60-minute expiry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lIns="73152" rIns="73152" tIns="36576" bIns="36576" wrap="square"/>
                    <a:lstStyle/>
                    <a:p>
                      <a:r>
                        <a:rPr sz="1300">
                          <a:solidFill>
                            <a:srgbClr val="0B1F3A"/>
                          </a:solidFill>
                        </a:rPr>
                        <a:t>Authorization (RBAC)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300">
                          <a:solidFill>
                            <a:srgbClr val="0B1F3A"/>
                          </a:solidFill>
                        </a:rPr>
                        <a:t>5 roles: NetAdmin, IT Manager, MSP, IT Staff, End User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28320">
                <a:tc>
                  <a:txBody>
                    <a:bodyPr lIns="73152" rIns="73152" tIns="36576" bIns="36576" wrap="square"/>
                    <a:lstStyle/>
                    <a:p>
                      <a:r>
                        <a:rPr sz="1300">
                          <a:solidFill>
                            <a:srgbClr val="0B1F3A"/>
                          </a:solidFill>
                        </a:rPr>
                        <a:t>Account Lockout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300">
                          <a:solidFill>
                            <a:srgbClr val="0B1F3A"/>
                          </a:solidFill>
                        </a:rPr>
                        <a:t>5 consecutive failed attempts triggers 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lIns="73152" rIns="73152" tIns="36576" bIns="36576" wrap="square"/>
                    <a:lstStyle/>
                    <a:p>
                      <a:r>
                        <a:rPr sz="1300">
                          <a:solidFill>
                            <a:srgbClr val="0B1F3A"/>
                          </a:solidFill>
                        </a:rPr>
                        <a:t>HIPAA Compliance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300">
                          <a:solidFill>
                            <a:srgbClr val="0B1F3A"/>
                          </a:solidFill>
                        </a:rPr>
                        <a:t>Tamper-evident SHA-256 audit checksums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28320">
                <a:tc>
                  <a:txBody>
                    <a:bodyPr lIns="73152" rIns="73152" tIns="36576" bIns="36576" wrap="square"/>
                    <a:lstStyle/>
                    <a:p>
                      <a:r>
                        <a:rPr sz="1300">
                          <a:solidFill>
                            <a:srgbClr val="0B1F3A"/>
                          </a:solidFill>
                        </a:rPr>
                        <a:t>Audit Completeness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300">
                          <a:solidFill>
                            <a:srgbClr val="0B1F3A"/>
                          </a:solidFill>
                        </a:rPr>
                        <a:t>Every steering, policy, and auth event logged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5A6B7A"/>
                </a:solidFill>
              </a:rPr>
              <a:t>PathWise AI  |  Team Pathfinders  |  COSC 6370-001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5A6B7A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0B1F3A"/>
                </a:solidFill>
              </a:rPr>
              <a:t>Data Architecture</a:t>
            </a:r>
          </a:p>
          <a:p>
            <a:r>
              <a:rPr sz="1500" i="1">
                <a:solidFill>
                  <a:srgbClr val="00A8B5"/>
                </a:solidFill>
              </a:rPr>
              <a:t>TimescaleDB + Redis Pub/Sub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0A8B5"/>
                </a:solidFill>
              </a:rPr>
              <a:t>TimescaleDB Schema (5 tables)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486400" cy="6858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ctr"/>
            <a:r>
              <a:rPr sz="1200" b="1">
                <a:solidFill>
                  <a:srgbClr val="0B1F3A"/>
                </a:solidFill>
              </a:rPr>
              <a:t>wan_telemetry</a:t>
            </a:r>
          </a:p>
          <a:p>
            <a:r>
              <a:rPr sz="1000">
                <a:solidFill>
                  <a:srgbClr val="5A6B7A"/>
                </a:solidFill>
              </a:rPr>
              <a:t>Hypertable · 1-sec granularity (latency, jitter, loss)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5486400" cy="6858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ctr"/>
            <a:r>
              <a:rPr sz="1200" b="1">
                <a:solidFill>
                  <a:srgbClr val="0B1F3A"/>
                </a:solidFill>
              </a:rPr>
              <a:t>health_scores</a:t>
            </a:r>
          </a:p>
          <a:p>
            <a:r>
              <a:rPr sz="1000">
                <a:solidFill>
                  <a:srgbClr val="5A6B7A"/>
                </a:solidFill>
              </a:rPr>
              <a:t>LSTM output + confidence per 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5486400" cy="6858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ctr"/>
            <a:r>
              <a:rPr sz="1200" b="1">
                <a:solidFill>
                  <a:srgbClr val="0B1F3A"/>
                </a:solidFill>
              </a:rPr>
              <a:t>audit_log</a:t>
            </a:r>
          </a:p>
          <a:p>
            <a:r>
              <a:rPr sz="1000">
                <a:solidFill>
                  <a:srgbClr val="5A6B7A"/>
                </a:solidFill>
              </a:rPr>
              <a:t>Tamper-evident with SHA-256 row checksums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43400"/>
            <a:ext cx="5486400" cy="6858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ctr"/>
            <a:r>
              <a:rPr sz="1200" b="1">
                <a:solidFill>
                  <a:srgbClr val="0B1F3A"/>
                </a:solidFill>
              </a:rPr>
              <a:t>users</a:t>
            </a:r>
          </a:p>
          <a:p>
            <a:r>
              <a:rPr sz="1000">
                <a:solidFill>
                  <a:srgbClr val="5A6B7A"/>
                </a:solidFill>
              </a:rPr>
              <a:t>bcrypt credentials + RBAC 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20640"/>
            <a:ext cx="5486400" cy="6858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ctr"/>
            <a:r>
              <a:rPr sz="1200" b="1">
                <a:solidFill>
                  <a:srgbClr val="0B1F3A"/>
                </a:solidFill>
              </a:rPr>
              <a:t>policies</a:t>
            </a:r>
          </a:p>
          <a:p>
            <a:r>
              <a:rPr sz="1000">
                <a:solidFill>
                  <a:srgbClr val="5A6B7A"/>
                </a:solidFill>
              </a:rPr>
              <a:t>Natural language + YANG JSON 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FF8C42"/>
                </a:solidFill>
              </a:rPr>
              <a:t>Redis Pub/Sub Channels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5303520" cy="54864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/>
            <a:r>
              <a:rPr sz="1200" b="1">
                <a:solidFill>
                  <a:srgbClr val="00A8B5"/>
                </a:solidFill>
                <a:latin typeface="Consolas"/>
              </a:rPr>
              <a:t>pathwise:telemetry:{link_id}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651760"/>
            <a:ext cx="5303520" cy="54864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/>
            <a:r>
              <a:rPr sz="1200" b="1">
                <a:solidFill>
                  <a:srgbClr val="00A8B5"/>
                </a:solidFill>
                <a:latin typeface="Consolas"/>
              </a:rPr>
              <a:t>pathwise:alerts:{site_id}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291840"/>
            <a:ext cx="5303520" cy="54864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/>
            <a:r>
              <a:rPr sz="1200" b="1">
                <a:solidFill>
                  <a:srgbClr val="00A8B5"/>
                </a:solidFill>
                <a:latin typeface="Consolas"/>
              </a:rPr>
              <a:t>pathwise:validation:request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931920"/>
            <a:ext cx="5303520" cy="54864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/>
            <a:r>
              <a:rPr sz="1200" b="1">
                <a:solidFill>
                  <a:srgbClr val="00A8B5"/>
                </a:solidFill>
                <a:latin typeface="Consolas"/>
              </a:rPr>
              <a:t>pathwise:validation:result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572000"/>
            <a:ext cx="5303520" cy="54864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/>
            <a:r>
              <a:rPr sz="1200" b="1">
                <a:solidFill>
                  <a:srgbClr val="00A8B5"/>
                </a:solidFill>
                <a:latin typeface="Consolas"/>
              </a:rPr>
              <a:t>pathwise:steering:trigger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212080"/>
            <a:ext cx="5303520" cy="54864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/>
            <a:r>
              <a:rPr sz="1200" b="1">
                <a:solidFill>
                  <a:srgbClr val="00A8B5"/>
                </a:solidFill>
                <a:latin typeface="Consolas"/>
              </a:rPr>
              <a:t>pathwise:dashboard:updates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5A6B7A"/>
                </a:solidFill>
              </a:rPr>
              <a:t>PathWise AI  |  Team Pathfinders  |  COSC 6370-001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5A6B7A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0B1F3A"/>
                </a:solidFill>
              </a:rPr>
              <a:t>Quality Targets</a:t>
            </a:r>
          </a:p>
          <a:p>
            <a:r>
              <a:rPr sz="1500" i="1">
                <a:solidFill>
                  <a:srgbClr val="00A8B5"/>
                </a:solidFill>
              </a:rPr>
              <a:t>Hard constraints  —  every target is test-verified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75488">
                <a:tc>
                  <a:txBody>
                    <a:bodyPr lIns="73152" rIns="73152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SRS ID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LSTM prediction accuracy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≥ 90% (MSE on test set)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Req-Qual-Perf-1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End-to-end traffic steering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&lt; 50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Req-Qual-Perf-2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Digital Twin validation cycle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&lt; 5 seconds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Req-Qual-Perf-3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Dashboard UI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&lt; 2 seconds under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Req-Qual-Perf-4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Concurrent sites supported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≥ 100 (no degradation)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Req-Qual-Scal-1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Platform availability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≥ 99.9% annually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Req-Qual-Rel-1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Data in transit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TLS 1.3+ on all connections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Req-Qual-Sec-1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Data at 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AES-256 encryption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Req-Qual-Sec-2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Database backups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Every 24h, geo-separated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Req-Qual-Rel-3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5A6B7A"/>
                </a:solidFill>
              </a:rPr>
              <a:t>PathWise AI  |  Team Pathfinders  |  COSC 6370-001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5A6B7A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0B1F3A"/>
                </a:solidFill>
              </a:rPr>
              <a:t>Testing Strategy</a:t>
            </a:r>
          </a:p>
          <a:p>
            <a:r>
              <a:rPr sz="1500" i="1">
                <a:solidFill>
                  <a:srgbClr val="00A8B5"/>
                </a:solidFill>
              </a:rPr>
              <a:t>22 mandatory integration test cases + ≥ 80% unit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611880" cy="10515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Telemetry Ingestion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≥ 1 row/sec into TimescaleDB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600200"/>
            <a:ext cx="3611880" cy="10515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LSTM Accuracy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≥ 90% on held-out test 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600200"/>
            <a:ext cx="3611880" cy="10515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Inference Speed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&lt; 1 sec per LSTM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70632"/>
            <a:ext cx="3611880" cy="10515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Hitless Handoff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&lt; 50 ms, zero packet 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770632"/>
            <a:ext cx="3611880" cy="10515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Session Preservation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No TCP session dropped on handoff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2770632"/>
            <a:ext cx="3611880" cy="10515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Sandbox Cycle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Full validation &lt; 5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41064"/>
            <a:ext cx="3611880" cy="10515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Loop Detection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Correctly rejects loop-introducing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3941064"/>
            <a:ext cx="3611880" cy="10515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IBN NLP Accuracy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&gt; 90% intent parsing on common commands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3941064"/>
            <a:ext cx="3611880" cy="10515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YANG Translation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Payload accepted by ODL + ONOS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11496"/>
            <a:ext cx="3611880" cy="10515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RBAC Enforcement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Each role limited to permitted routes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5111496"/>
            <a:ext cx="3611880" cy="10515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100-Site Scalability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No degradation at load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5111496"/>
            <a:ext cx="3611880" cy="10515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0A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wrap="square"/>
          <a:lstStyle/>
          <a:p>
            <a:pPr algn="ctr"/>
            <a:r>
              <a:rPr sz="1400" b="1">
                <a:solidFill>
                  <a:srgbClr val="00A8B5"/>
                </a:solidFill>
              </a:rPr>
              <a:t>TLS 1.3 Enforcement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B1F3A"/>
                </a:solidFill>
              </a:rPr>
              <a:t>Lower versions rejected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5A6B7A"/>
                </a:solidFill>
              </a:rPr>
              <a:t>PathWise AI  |  Team Pathfinders  |  COSC 6370-001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5A6B7A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0B1F3A"/>
                </a:solidFill>
              </a:rPr>
              <a:t>Build Order</a:t>
            </a:r>
          </a:p>
          <a:p>
            <a:r>
              <a:rPr sz="1500" i="1">
                <a:solidFill>
                  <a:srgbClr val="00A8B5"/>
                </a:solidFill>
              </a:rPr>
              <a:t>10-stage sequence respecting service dependencies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7276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1F3A"/>
                </a:solidFill>
              </a:rPr>
              <a:t>Infrastructure</a:t>
            </a:r>
          </a:p>
          <a:p>
            <a:r>
              <a:rPr sz="1000">
                <a:solidFill>
                  <a:srgbClr val="5A6B7A"/>
                </a:solidFill>
              </a:rPr>
              <a:t>TimescaleDB · Redis · nginx TLS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1554480"/>
            <a:ext cx="640080" cy="640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59" y="157276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1F3A"/>
                </a:solidFill>
              </a:rPr>
              <a:t>Backend API</a:t>
            </a:r>
          </a:p>
          <a:p>
            <a:r>
              <a:rPr sz="1000">
                <a:solidFill>
                  <a:srgbClr val="5A6B7A"/>
                </a:solidFill>
              </a:rPr>
              <a:t>Auth · RBAC · REST routes · WebSocket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3288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1F3A"/>
                </a:solidFill>
              </a:rPr>
              <a:t>Telemetry Engine</a:t>
            </a:r>
          </a:p>
          <a:p>
            <a:r>
              <a:rPr sz="1000">
                <a:solidFill>
                  <a:srgbClr val="5A6B7A"/>
                </a:solidFill>
              </a:rPr>
              <a:t>Ingestion · LSTM · scoring · alerts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2514600"/>
            <a:ext cx="640080" cy="640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253288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1F3A"/>
                </a:solidFill>
              </a:rPr>
              <a:t>Digital Twin</a:t>
            </a:r>
          </a:p>
          <a:p>
            <a:r>
              <a:rPr sz="1000">
                <a:solidFill>
                  <a:srgbClr val="5A6B7A"/>
                </a:solidFill>
              </a:rPr>
              <a:t>Mininet builder · Batfish · sandbox API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474720"/>
            <a:ext cx="640080" cy="640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9300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1F3A"/>
                </a:solidFill>
              </a:rPr>
              <a:t>Traffic Steering</a:t>
            </a:r>
          </a:p>
          <a:p>
            <a:r>
              <a:rPr sz="1000">
                <a:solidFill>
                  <a:srgbClr val="5A6B7A"/>
                </a:solidFill>
              </a:rPr>
              <a:t>ODL/ONOS clients · hitless handoff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3474720"/>
            <a:ext cx="640080" cy="640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349300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1F3A"/>
                </a:solidFill>
              </a:rPr>
              <a:t>IBN Interface</a:t>
            </a:r>
          </a:p>
          <a:p>
            <a:r>
              <a:rPr sz="1000">
                <a:solidFill>
                  <a:srgbClr val="5A6B7A"/>
                </a:solidFill>
              </a:rPr>
              <a:t>NLP engine · YANG translator · policy mgr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434840"/>
            <a:ext cx="640080" cy="640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45312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1F3A"/>
                </a:solidFill>
              </a:rPr>
              <a:t>Dashboard</a:t>
            </a:r>
          </a:p>
          <a:p>
            <a:r>
              <a:rPr sz="1000">
                <a:solidFill>
                  <a:srgbClr val="5A6B7A"/>
                </a:solidFill>
              </a:rPr>
              <a:t>React SPA · all 6 screens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4434840"/>
            <a:ext cx="640080" cy="640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59" y="445312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1F3A"/>
                </a:solidFill>
              </a:rPr>
              <a:t>ML Pipeline</a:t>
            </a:r>
          </a:p>
          <a:p>
            <a:r>
              <a:rPr sz="1000">
                <a:solidFill>
                  <a:srgbClr val="5A6B7A"/>
                </a:solidFill>
              </a:rPr>
              <a:t>Data generation · training · evaluation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394960"/>
            <a:ext cx="640080" cy="640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6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41324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1F3A"/>
                </a:solidFill>
              </a:rPr>
              <a:t>Integration Tests</a:t>
            </a:r>
          </a:p>
          <a:p>
            <a:r>
              <a:rPr sz="1000">
                <a:solidFill>
                  <a:srgbClr val="5A6B7A"/>
                </a:solidFill>
              </a:rPr>
              <a:t>22 end-to-end test cases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5394960"/>
            <a:ext cx="640080" cy="640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59" y="541324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1F3A"/>
                </a:solidFill>
              </a:rPr>
              <a:t>Full Bring-Up</a:t>
            </a:r>
          </a:p>
          <a:p>
            <a:r>
              <a:rPr sz="1000">
                <a:solidFill>
                  <a:srgbClr val="5A6B7A"/>
                </a:solidFill>
              </a:rPr>
              <a:t>Docker Compose · end-to-end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5A6B7A"/>
                </a:solidFill>
              </a:rPr>
              <a:t>PathWise AI  |  Team Pathfinders  |  COSC 6370-001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5A6B7A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200" b="1">
                <a:solidFill>
                  <a:srgbClr val="0B1F3A"/>
                </a:solidFill>
              </a:rPr>
              <a:t>Challenges &amp; Mitigations</a:t>
            </a:r>
          </a:p>
          <a:p>
            <a:r>
              <a:rPr sz="1500" i="1">
                <a:solidFill>
                  <a:srgbClr val="00A8B5"/>
                </a:solidFill>
              </a:rPr>
              <a:t>Anticipating the hard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71500">
                <a:tc>
                  <a:txBody>
                    <a:bodyPr lIns="73152" rIns="73152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Mitigation Strategy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50 ms hitless handoff is extremely tight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Pre-compute flow entries · atomic SDN update · session-state preservation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Running Mininet on Windows host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Execute via WSL2 subprocess wrapper from containerized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Achieving ≥ 90% LSTM accuracy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10M synthetic training points · attention mechanism · hyperparameter tuning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Ambiguous natural language intents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Preview before Apply · rephrasing suggestions · never guess or auto-deploy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SDN controller API failures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Retry with exponential backoff (3 attempts) · admin alert on failure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Tamper-evident audit 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SHA-256 checksum per audit_log row · immutable append-only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Service restart / reconnection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0B1F3A"/>
                          </a:solidFill>
                        </a:rPr>
                        <a:t>Docker restart:always · health checks · Redis reconnection logic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5A6B7A"/>
                </a:solidFill>
              </a:rPr>
              <a:t>PathWise AI  |  Team Pathfinders  |  COSC 6370-001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5A6B7A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FFFFFF"/>
                </a:solidFill>
              </a:rPr>
              <a:t>Live Demo  &amp;  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i="1">
                <a:solidFill>
                  <a:srgbClr val="00A8B5"/>
                </a:solidFill>
              </a:rPr>
              <a:t>Seeing PathWise AI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8C42"/>
                </a:solidFill>
              </a:rPr>
              <a:t>DEMO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1.  Login → Health Scoreboard displays live Fiber / Satellite / 5G / Broadband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2.  Inject simulated degradation on Fiber link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3.  LSTM predicts → health score drops below threshold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4.  Digital Twin Sandbox validates → PASSED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5.  Traffic steering reroutes → zero packet loss confirmed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6.  Audit log entry appears with confidence score + 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8C42"/>
                </a:solidFill>
              </a:rP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